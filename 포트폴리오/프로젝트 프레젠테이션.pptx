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마카롱" charset="1" panose="02000500020000020003"/>
      <p:regular r:id="rId16"/>
    </p:embeddedFont>
    <p:embeddedFont>
      <p:font typeface="210 디딤고딕 Light" charset="1" panose="02020503020101020101"/>
      <p:regular r:id="rId17"/>
    </p:embeddedFont>
    <p:embeddedFont>
      <p:font typeface="210 디딤고딕" charset="1" panose="02020503020101020101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53081" y="2834437"/>
            <a:ext cx="10981837" cy="495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28"/>
              </a:lnSpc>
            </a:pPr>
            <a:r>
              <a:rPr lang="en-US" sz="10099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로아 전투 정보실 개발 프로젝트</a:t>
            </a:r>
          </a:p>
          <a:p>
            <a:pPr algn="ctr">
              <a:lnSpc>
                <a:spcPts val="1302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sp>
        <p:nvSpPr>
          <p:cNvPr name="AutoShape 8" id="8"/>
          <p:cNvSpPr/>
          <p:nvPr/>
        </p:nvSpPr>
        <p:spPr>
          <a:xfrm>
            <a:off x="1660267" y="8195872"/>
            <a:ext cx="14967466" cy="0"/>
          </a:xfrm>
          <a:prstGeom prst="line">
            <a:avLst/>
          </a:prstGeom>
          <a:ln cap="flat" w="19050">
            <a:solidFill>
              <a:srgbClr val="3433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7189879" y="8603997"/>
            <a:ext cx="0" cy="312039"/>
          </a:xfrm>
          <a:prstGeom prst="line">
            <a:avLst/>
          </a:prstGeom>
          <a:ln cap="flat" w="19050">
            <a:solidFill>
              <a:srgbClr val="3433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10669583" y="8603997"/>
            <a:ext cx="0" cy="312039"/>
          </a:xfrm>
          <a:prstGeom prst="line">
            <a:avLst/>
          </a:prstGeom>
          <a:ln cap="flat" w="19050">
            <a:solidFill>
              <a:srgbClr val="34332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86082" y="2633687"/>
            <a:ext cx="6915837" cy="119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7"/>
              </a:lnSpc>
            </a:pPr>
            <a:r>
              <a:rPr lang="en-US" sz="7300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목차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618588" y="4642970"/>
            <a:ext cx="5090436" cy="887178"/>
            <a:chOff x="0" y="0"/>
            <a:chExt cx="1340691" cy="2336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0691" cy="233660"/>
            </a:xfrm>
            <a:custGeom>
              <a:avLst/>
              <a:gdLst/>
              <a:ahLst/>
              <a:cxnLst/>
              <a:rect r="r" b="b" t="t" l="l"/>
              <a:pathLst>
                <a:path h="233660" w="1340691">
                  <a:moveTo>
                    <a:pt x="0" y="0"/>
                  </a:moveTo>
                  <a:lnTo>
                    <a:pt x="1340691" y="0"/>
                  </a:lnTo>
                  <a:lnTo>
                    <a:pt x="1340691" y="233660"/>
                  </a:lnTo>
                  <a:lnTo>
                    <a:pt x="0" y="233660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78976" y="4644226"/>
            <a:ext cx="5090436" cy="887178"/>
            <a:chOff x="0" y="0"/>
            <a:chExt cx="1340691" cy="2336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0691" cy="233660"/>
            </a:xfrm>
            <a:custGeom>
              <a:avLst/>
              <a:gdLst/>
              <a:ahLst/>
              <a:cxnLst/>
              <a:rect r="r" b="b" t="t" l="l"/>
              <a:pathLst>
                <a:path h="233660" w="1340691">
                  <a:moveTo>
                    <a:pt x="0" y="0"/>
                  </a:moveTo>
                  <a:lnTo>
                    <a:pt x="1340691" y="0"/>
                  </a:lnTo>
                  <a:lnTo>
                    <a:pt x="1340691" y="233660"/>
                  </a:lnTo>
                  <a:lnTo>
                    <a:pt x="0" y="233660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618588" y="5837460"/>
            <a:ext cx="5090436" cy="887178"/>
            <a:chOff x="0" y="0"/>
            <a:chExt cx="1340691" cy="2336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0691" cy="233660"/>
            </a:xfrm>
            <a:custGeom>
              <a:avLst/>
              <a:gdLst/>
              <a:ahLst/>
              <a:cxnLst/>
              <a:rect r="r" b="b" t="t" l="l"/>
              <a:pathLst>
                <a:path h="233660" w="1340691">
                  <a:moveTo>
                    <a:pt x="0" y="0"/>
                  </a:moveTo>
                  <a:lnTo>
                    <a:pt x="1340691" y="0"/>
                  </a:lnTo>
                  <a:lnTo>
                    <a:pt x="1340691" y="233660"/>
                  </a:lnTo>
                  <a:lnTo>
                    <a:pt x="0" y="233660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78976" y="5838717"/>
            <a:ext cx="5090436" cy="887178"/>
            <a:chOff x="0" y="0"/>
            <a:chExt cx="1340691" cy="2336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0691" cy="233660"/>
            </a:xfrm>
            <a:custGeom>
              <a:avLst/>
              <a:gdLst/>
              <a:ahLst/>
              <a:cxnLst/>
              <a:rect r="r" b="b" t="t" l="l"/>
              <a:pathLst>
                <a:path h="233660" w="1340691">
                  <a:moveTo>
                    <a:pt x="0" y="0"/>
                  </a:moveTo>
                  <a:lnTo>
                    <a:pt x="1340691" y="0"/>
                  </a:lnTo>
                  <a:lnTo>
                    <a:pt x="1340691" y="233660"/>
                  </a:lnTo>
                  <a:lnTo>
                    <a:pt x="0" y="233660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618588" y="7029439"/>
            <a:ext cx="5090436" cy="887178"/>
            <a:chOff x="0" y="0"/>
            <a:chExt cx="1340691" cy="2336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0691" cy="233660"/>
            </a:xfrm>
            <a:custGeom>
              <a:avLst/>
              <a:gdLst/>
              <a:ahLst/>
              <a:cxnLst/>
              <a:rect r="r" b="b" t="t" l="l"/>
              <a:pathLst>
                <a:path h="233660" w="1340691">
                  <a:moveTo>
                    <a:pt x="0" y="0"/>
                  </a:moveTo>
                  <a:lnTo>
                    <a:pt x="1340691" y="0"/>
                  </a:lnTo>
                  <a:lnTo>
                    <a:pt x="1340691" y="233660"/>
                  </a:lnTo>
                  <a:lnTo>
                    <a:pt x="0" y="233660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813571" y="4778520"/>
            <a:ext cx="3245306" cy="520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자기 소개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73960" y="4779776"/>
            <a:ext cx="3498683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프로젝트 진행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813571" y="5973011"/>
            <a:ext cx="3245306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프로젝트 소개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73960" y="5974267"/>
            <a:ext cx="3498683" cy="520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프로젝트 결과물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813571" y="7164989"/>
            <a:ext cx="3245306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프로젝트 목표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37294" y="4778520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97682" y="4779776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37294" y="5973011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97682" y="5974267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937294" y="7164989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86082" y="1753642"/>
            <a:ext cx="6915837" cy="119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7"/>
              </a:lnSpc>
            </a:pPr>
            <a:r>
              <a:rPr lang="en-US" sz="7300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그룹소개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492388" y="3723791"/>
            <a:ext cx="5303223" cy="4354056"/>
            <a:chOff x="0" y="0"/>
            <a:chExt cx="7070965" cy="580540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070965" cy="5805409"/>
              <a:chOff x="0" y="0"/>
              <a:chExt cx="784633" cy="644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84633" cy="644200"/>
              </a:xfrm>
              <a:custGeom>
                <a:avLst/>
                <a:gdLst/>
                <a:ahLst/>
                <a:cxnLst/>
                <a:rect r="r" b="b" t="t" l="l"/>
                <a:pathLst>
                  <a:path h="644200" w="784633">
                    <a:moveTo>
                      <a:pt x="0" y="0"/>
                    </a:moveTo>
                    <a:lnTo>
                      <a:pt x="784633" y="0"/>
                    </a:lnTo>
                    <a:lnTo>
                      <a:pt x="784633" y="644200"/>
                    </a:lnTo>
                    <a:lnTo>
                      <a:pt x="0" y="644200"/>
                    </a:lnTo>
                    <a:close/>
                  </a:path>
                </a:pathLst>
              </a:custGeom>
              <a:solidFill>
                <a:srgbClr val="FFFDF8"/>
              </a:solidFill>
              <a:ln w="19050" cap="sq">
                <a:solidFill>
                  <a:srgbClr val="34332C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784633" cy="691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AutoShape 12" id="12"/>
            <p:cNvSpPr/>
            <p:nvPr/>
          </p:nvSpPr>
          <p:spPr>
            <a:xfrm>
              <a:off x="3175632" y="1195620"/>
              <a:ext cx="0" cy="810472"/>
            </a:xfrm>
            <a:prstGeom prst="line">
              <a:avLst/>
            </a:prstGeom>
            <a:ln cap="flat" w="100605">
              <a:solidFill>
                <a:srgbClr val="FFDF6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622588" y="1008479"/>
              <a:ext cx="2330125" cy="10418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87"/>
                </a:lnSpc>
                <a:spcBef>
                  <a:spcPct val="0"/>
                </a:spcBef>
              </a:pPr>
              <a:r>
                <a:rPr lang="en-US" sz="4436">
                  <a:solidFill>
                    <a:srgbClr val="34332C"/>
                  </a:solidFill>
                  <a:latin typeface="210 디딤고딕"/>
                  <a:ea typeface="210 디딤고딕"/>
                  <a:cs typeface="210 디딤고딕"/>
                  <a:sym typeface="210 디딤고딕"/>
                </a:rPr>
                <a:t>홍유찬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63159" y="1242156"/>
              <a:ext cx="2786421" cy="701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05"/>
                </a:lnSpc>
                <a:spcBef>
                  <a:spcPct val="0"/>
                </a:spcBef>
              </a:pPr>
              <a:r>
                <a:rPr lang="en-US" sz="3010">
                  <a:solidFill>
                    <a:srgbClr val="34332C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개발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22588" y="2680534"/>
              <a:ext cx="5726992" cy="773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090"/>
                </a:lnSpc>
                <a:spcBef>
                  <a:spcPct val="0"/>
                </a:spcBef>
              </a:pPr>
              <a:r>
                <a:rPr lang="en-US" sz="3327">
                  <a:solidFill>
                    <a:srgbClr val="34332C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프로젝트 계획 및 개발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361964" y="3635342"/>
            <a:ext cx="13600007" cy="4962768"/>
            <a:chOff x="0" y="0"/>
            <a:chExt cx="3187942" cy="11633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87942" cy="1163310"/>
            </a:xfrm>
            <a:custGeom>
              <a:avLst/>
              <a:gdLst/>
              <a:ahLst/>
              <a:cxnLst/>
              <a:rect r="r" b="b" t="t" l="l"/>
              <a:pathLst>
                <a:path h="1163310" w="3187942">
                  <a:moveTo>
                    <a:pt x="0" y="0"/>
                  </a:moveTo>
                  <a:lnTo>
                    <a:pt x="3187942" y="0"/>
                  </a:lnTo>
                  <a:lnTo>
                    <a:pt x="3187942" y="1163310"/>
                  </a:lnTo>
                  <a:lnTo>
                    <a:pt x="0" y="1163310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3187942" cy="123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13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686082" y="1753642"/>
            <a:ext cx="6915837" cy="1193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7"/>
              </a:lnSpc>
            </a:pPr>
            <a:r>
              <a:rPr lang="en-US" sz="7300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프로젝트 소개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19954" y="5067300"/>
            <a:ext cx="11684026" cy="265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0"/>
              </a:lnSpc>
            </a:pPr>
            <a:r>
              <a:rPr lang="en-US" sz="20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이번 그룹 프로젝트는 로스트아크에 관한 정보를 한 눈에 알 수 있고, 게임 자체의 커뮤니티 기능을 강화하는 것을 목표로 하고 있습니다. </a:t>
            </a:r>
          </a:p>
          <a:p>
            <a:pPr algn="just">
              <a:lnSpc>
                <a:spcPts val="3060"/>
              </a:lnSpc>
            </a:pPr>
          </a:p>
          <a:p>
            <a:pPr algn="just">
              <a:lnSpc>
                <a:spcPts val="3060"/>
              </a:lnSpc>
            </a:pPr>
            <a:r>
              <a:rPr lang="en-US" sz="20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이번 프로젝트로 게임에 들어가지 않아도 캐릭터 정보와 이벤트 등을 확인할 수 있게 되어 편의성 기능을 강화하고, </a:t>
            </a:r>
          </a:p>
          <a:p>
            <a:pPr algn="just">
              <a:lnSpc>
                <a:spcPts val="3060"/>
              </a:lnSpc>
              <a:spcBef>
                <a:spcPct val="0"/>
              </a:spcBef>
            </a:pPr>
            <a:r>
              <a:rPr lang="en-US" sz="20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확인한 정보를 바탕으로 커뮤니티 및 일상생활에서 다양한 팁과 정보, 새 이벤트에 관하여 대화 할 수 있게 되며, 이를 통해 유저 간 커뮤니티 기능 향상을 도모합니다.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319954" y="4123090"/>
            <a:ext cx="11684026" cy="868643"/>
            <a:chOff x="0" y="0"/>
            <a:chExt cx="2738822" cy="203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38822" cy="203616"/>
            </a:xfrm>
            <a:custGeom>
              <a:avLst/>
              <a:gdLst/>
              <a:ahLst/>
              <a:cxnLst/>
              <a:rect r="r" b="b" t="t" l="l"/>
              <a:pathLst>
                <a:path h="203616" w="2738822">
                  <a:moveTo>
                    <a:pt x="0" y="0"/>
                  </a:moveTo>
                  <a:lnTo>
                    <a:pt x="2738822" y="0"/>
                  </a:lnTo>
                  <a:lnTo>
                    <a:pt x="2738822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738822" cy="251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214877" y="4249373"/>
            <a:ext cx="10789104" cy="520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로스트아크 정보 및 커뮤니티 홈페이지</a:t>
            </a:r>
          </a:p>
        </p:txBody>
      </p:sp>
      <p:sp>
        <p:nvSpPr>
          <p:cNvPr name="AutoShape 16" id="16"/>
          <p:cNvSpPr/>
          <p:nvPr/>
        </p:nvSpPr>
        <p:spPr>
          <a:xfrm>
            <a:off x="3790936" y="4365578"/>
            <a:ext cx="0" cy="383667"/>
          </a:xfrm>
          <a:prstGeom prst="line">
            <a:avLst/>
          </a:prstGeom>
          <a:ln cap="flat" w="47625">
            <a:solidFill>
              <a:srgbClr val="FFDF6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756509"/>
            <a:ext cx="16431386" cy="8529164"/>
            <a:chOff x="0" y="0"/>
            <a:chExt cx="21908515" cy="113722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326425"/>
              <a:ext cx="21908515" cy="11045794"/>
              <a:chOff x="0" y="0"/>
              <a:chExt cx="4327608" cy="218188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327608" cy="2181885"/>
              </a:xfrm>
              <a:custGeom>
                <a:avLst/>
                <a:gdLst/>
                <a:ahLst/>
                <a:cxnLst/>
                <a:rect r="r" b="b" t="t" l="l"/>
                <a:pathLst>
                  <a:path h="2181885" w="4327608">
                    <a:moveTo>
                      <a:pt x="0" y="0"/>
                    </a:moveTo>
                    <a:lnTo>
                      <a:pt x="4327608" y="0"/>
                    </a:lnTo>
                    <a:lnTo>
                      <a:pt x="4327608" y="2181885"/>
                    </a:lnTo>
                    <a:lnTo>
                      <a:pt x="0" y="2181885"/>
                    </a:lnTo>
                    <a:close/>
                  </a:path>
                </a:pathLst>
              </a:custGeom>
              <a:solidFill>
                <a:srgbClr val="FFFDF8"/>
              </a:solidFill>
              <a:ln w="19050" cap="sq">
                <a:solidFill>
                  <a:srgbClr val="34332C"/>
                </a:solidFill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4327608" cy="22295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6" id="6"/>
            <p:cNvSpPr/>
            <p:nvPr/>
          </p:nvSpPr>
          <p:spPr>
            <a:xfrm flipH="false" flipV="false" rot="0">
              <a:off x="903878" y="0"/>
              <a:ext cx="2015328" cy="2182274"/>
            </a:xfrm>
            <a:custGeom>
              <a:avLst/>
              <a:gdLst/>
              <a:ahLst/>
              <a:cxnLst/>
              <a:rect r="r" b="b" t="t" l="l"/>
              <a:pathLst>
                <a:path h="2182274" w="2015328">
                  <a:moveTo>
                    <a:pt x="0" y="0"/>
                  </a:moveTo>
                  <a:lnTo>
                    <a:pt x="2015328" y="0"/>
                  </a:lnTo>
                  <a:lnTo>
                    <a:pt x="2015328" y="2182274"/>
                  </a:lnTo>
                  <a:lnTo>
                    <a:pt x="0" y="2182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17521" t="0" r="-11307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1454011" y="5306433"/>
              <a:ext cx="6113365" cy="4429550"/>
              <a:chOff x="0" y="0"/>
              <a:chExt cx="1074763" cy="77873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74763" cy="778739"/>
              </a:xfrm>
              <a:custGeom>
                <a:avLst/>
                <a:gdLst/>
                <a:ahLst/>
                <a:cxnLst/>
                <a:rect r="r" b="b" t="t" l="l"/>
                <a:pathLst>
                  <a:path h="778739" w="1074763">
                    <a:moveTo>
                      <a:pt x="0" y="0"/>
                    </a:moveTo>
                    <a:lnTo>
                      <a:pt x="1074763" y="0"/>
                    </a:lnTo>
                    <a:lnTo>
                      <a:pt x="1074763" y="778739"/>
                    </a:lnTo>
                    <a:lnTo>
                      <a:pt x="0" y="778739"/>
                    </a:lnTo>
                    <a:close/>
                  </a:path>
                </a:pathLst>
              </a:custGeom>
              <a:solidFill>
                <a:srgbClr val="FFFDF8"/>
              </a:solidFill>
              <a:ln w="19050" cap="sq">
                <a:solidFill>
                  <a:srgbClr val="34332C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76200"/>
                <a:ext cx="1074763" cy="8549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 marL="0" indent="0" lvl="0">
                  <a:lnSpc>
                    <a:spcPts val="321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7897575" y="5306433"/>
              <a:ext cx="6113365" cy="4429550"/>
              <a:chOff x="0" y="0"/>
              <a:chExt cx="1074763" cy="77873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74763" cy="778739"/>
              </a:xfrm>
              <a:custGeom>
                <a:avLst/>
                <a:gdLst/>
                <a:ahLst/>
                <a:cxnLst/>
                <a:rect r="r" b="b" t="t" l="l"/>
                <a:pathLst>
                  <a:path h="778739" w="1074763">
                    <a:moveTo>
                      <a:pt x="0" y="0"/>
                    </a:moveTo>
                    <a:lnTo>
                      <a:pt x="1074763" y="0"/>
                    </a:lnTo>
                    <a:lnTo>
                      <a:pt x="1074763" y="778739"/>
                    </a:lnTo>
                    <a:lnTo>
                      <a:pt x="0" y="778739"/>
                    </a:lnTo>
                    <a:close/>
                  </a:path>
                </a:pathLst>
              </a:custGeom>
              <a:solidFill>
                <a:srgbClr val="FFFDF8"/>
              </a:solidFill>
              <a:ln w="19050" cap="sq">
                <a:solidFill>
                  <a:srgbClr val="34332C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76200"/>
                <a:ext cx="1074763" cy="8549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 marL="0" indent="0" lvl="0">
                  <a:lnSpc>
                    <a:spcPts val="3213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4341140" y="5306433"/>
              <a:ext cx="6113365" cy="4429550"/>
              <a:chOff x="0" y="0"/>
              <a:chExt cx="1074763" cy="77873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74763" cy="778739"/>
              </a:xfrm>
              <a:custGeom>
                <a:avLst/>
                <a:gdLst/>
                <a:ahLst/>
                <a:cxnLst/>
                <a:rect r="r" b="b" t="t" l="l"/>
                <a:pathLst>
                  <a:path h="778739" w="1074763">
                    <a:moveTo>
                      <a:pt x="0" y="0"/>
                    </a:moveTo>
                    <a:lnTo>
                      <a:pt x="1074763" y="0"/>
                    </a:lnTo>
                    <a:lnTo>
                      <a:pt x="1074763" y="778739"/>
                    </a:lnTo>
                    <a:lnTo>
                      <a:pt x="0" y="778739"/>
                    </a:lnTo>
                    <a:close/>
                  </a:path>
                </a:pathLst>
              </a:custGeom>
              <a:solidFill>
                <a:srgbClr val="FFFDF8"/>
              </a:solidFill>
              <a:ln w="19050" cap="sq">
                <a:solidFill>
                  <a:srgbClr val="34332C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76200"/>
                <a:ext cx="1074763" cy="85493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 marL="0" indent="0" lvl="0">
                  <a:lnSpc>
                    <a:spcPts val="3213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343699" y="1358086"/>
              <a:ext cx="9221116" cy="15626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417"/>
                </a:lnSpc>
              </a:pPr>
              <a:r>
                <a:rPr lang="en-US" sz="7300">
                  <a:solidFill>
                    <a:srgbClr val="34332C"/>
                  </a:solidFill>
                  <a:latin typeface="마카롱"/>
                  <a:ea typeface="마카롱"/>
                  <a:cs typeface="마카롱"/>
                  <a:sym typeface="마카롱"/>
                </a:rPr>
                <a:t>프로젝트 목표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5474679" y="1037135"/>
              <a:ext cx="5385821" cy="492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3213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4332C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Group Project Presentation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897418" y="7579887"/>
              <a:ext cx="5226550" cy="1558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213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4332C"/>
                  </a:solidFill>
                  <a:latin typeface="210 디딤고딕"/>
                  <a:ea typeface="210 디딤고딕"/>
                  <a:cs typeface="210 디딤고딕"/>
                  <a:sym typeface="210 디딤고딕"/>
                </a:rPr>
                <a:t>게임에 들어가지 않고도 실시간으로 외부에서 게임 공지사항 및 이벤트를 확인가능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8340982" y="7579887"/>
              <a:ext cx="5226550" cy="1558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213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4332C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게임 속 흩어져 있는 나의 정보 및 보유한 캐릭터 목록을 한 번에 한 페이지에서 확인 가능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4785640" y="7313209"/>
              <a:ext cx="5226550" cy="2092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213"/>
                </a:lnSpc>
              </a:pPr>
              <a:r>
                <a:rPr lang="en-US" sz="2100">
                  <a:solidFill>
                    <a:srgbClr val="34332C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게임 속 뿐만아니라 웹에서 </a:t>
              </a:r>
            </a:p>
            <a:p>
              <a:pPr algn="just">
                <a:lnSpc>
                  <a:spcPts val="3213"/>
                </a:lnSpc>
              </a:pPr>
              <a:r>
                <a:rPr lang="en-US" sz="2100">
                  <a:solidFill>
                    <a:srgbClr val="34332C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실시간으로 여러 유저들과 게임에 관하여 소통하고, 인게임에서 </a:t>
              </a:r>
            </a:p>
            <a:p>
              <a:pPr algn="just">
                <a:lnSpc>
                  <a:spcPts val="3213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34332C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활용 가능한 정보 등을 서칭 가능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1897418" y="5881143"/>
              <a:ext cx="5226550" cy="1158191"/>
              <a:chOff x="0" y="0"/>
              <a:chExt cx="918857" cy="20361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18857" cy="203616"/>
              </a:xfrm>
              <a:custGeom>
                <a:avLst/>
                <a:gdLst/>
                <a:ahLst/>
                <a:cxnLst/>
                <a:rect r="r" b="b" t="t" l="l"/>
                <a:pathLst>
                  <a:path h="203616" w="918857">
                    <a:moveTo>
                      <a:pt x="0" y="0"/>
                    </a:moveTo>
                    <a:lnTo>
                      <a:pt x="918857" y="0"/>
                    </a:lnTo>
                    <a:lnTo>
                      <a:pt x="918857" y="203616"/>
                    </a:lnTo>
                    <a:lnTo>
                      <a:pt x="0" y="203616"/>
                    </a:lnTo>
                    <a:close/>
                  </a:path>
                </a:pathLst>
              </a:custGeom>
              <a:solidFill>
                <a:srgbClr val="FFFDF8"/>
              </a:solidFill>
              <a:ln w="19050" cap="sq">
                <a:solidFill>
                  <a:srgbClr val="34332C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918857" cy="2512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8340982" y="5881143"/>
              <a:ext cx="5226550" cy="1158191"/>
              <a:chOff x="0" y="0"/>
              <a:chExt cx="918857" cy="20361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18857" cy="203616"/>
              </a:xfrm>
              <a:custGeom>
                <a:avLst/>
                <a:gdLst/>
                <a:ahLst/>
                <a:cxnLst/>
                <a:rect r="r" b="b" t="t" l="l"/>
                <a:pathLst>
                  <a:path h="203616" w="918857">
                    <a:moveTo>
                      <a:pt x="0" y="0"/>
                    </a:moveTo>
                    <a:lnTo>
                      <a:pt x="918857" y="0"/>
                    </a:lnTo>
                    <a:lnTo>
                      <a:pt x="918857" y="203616"/>
                    </a:lnTo>
                    <a:lnTo>
                      <a:pt x="0" y="203616"/>
                    </a:lnTo>
                    <a:close/>
                  </a:path>
                </a:pathLst>
              </a:custGeom>
              <a:solidFill>
                <a:srgbClr val="FFFDF8"/>
              </a:solidFill>
              <a:ln w="19050" cap="sq">
                <a:solidFill>
                  <a:srgbClr val="34332C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918857" cy="2512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4784547" y="5881143"/>
              <a:ext cx="5226550" cy="1158191"/>
              <a:chOff x="0" y="0"/>
              <a:chExt cx="918857" cy="203616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18857" cy="203616"/>
              </a:xfrm>
              <a:custGeom>
                <a:avLst/>
                <a:gdLst/>
                <a:ahLst/>
                <a:cxnLst/>
                <a:rect r="r" b="b" t="t" l="l"/>
                <a:pathLst>
                  <a:path h="203616" w="918857">
                    <a:moveTo>
                      <a:pt x="0" y="0"/>
                    </a:moveTo>
                    <a:lnTo>
                      <a:pt x="918857" y="0"/>
                    </a:lnTo>
                    <a:lnTo>
                      <a:pt x="918857" y="203616"/>
                    </a:lnTo>
                    <a:lnTo>
                      <a:pt x="0" y="203616"/>
                    </a:lnTo>
                    <a:close/>
                  </a:path>
                </a:pathLst>
              </a:custGeom>
              <a:solidFill>
                <a:srgbClr val="FFFDF8"/>
              </a:solidFill>
              <a:ln w="19050" cap="sq">
                <a:solidFill>
                  <a:srgbClr val="34332C"/>
                </a:solidFill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918857" cy="2512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452283" y="6109210"/>
              <a:ext cx="4462135" cy="662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83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34332C"/>
                  </a:solidFill>
                  <a:latin typeface="210 디딤고딕"/>
                  <a:ea typeface="210 디딤고딕"/>
                  <a:cs typeface="210 디딤고딕"/>
                  <a:sym typeface="210 디딤고딕"/>
                </a:rPr>
                <a:t>게임 정보 편의성 개선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8944893" y="6081270"/>
              <a:ext cx="4462135" cy="662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83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34332C"/>
                  </a:solidFill>
                  <a:latin typeface="210 디딤고딕"/>
                  <a:ea typeface="210 디딤고딕"/>
                  <a:cs typeface="210 디딤고딕"/>
                  <a:sym typeface="210 디딤고딕"/>
                </a:rPr>
                <a:t>내 정보 가시성 향상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5548962" y="6081270"/>
              <a:ext cx="4462135" cy="662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83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34332C"/>
                  </a:solidFill>
                  <a:latin typeface="210 디딤고딕"/>
                  <a:ea typeface="210 디딤고딕"/>
                  <a:cs typeface="210 디딤고딕"/>
                  <a:sym typeface="210 디딤고딕"/>
                </a:rPr>
                <a:t>커뮤니티 기능</a:t>
              </a:r>
            </a:p>
          </p:txBody>
        </p:sp>
        <p:sp>
          <p:nvSpPr>
            <p:cNvPr name="AutoShape 33" id="33"/>
            <p:cNvSpPr/>
            <p:nvPr/>
          </p:nvSpPr>
          <p:spPr>
            <a:xfrm>
              <a:off x="2299716" y="6204460"/>
              <a:ext cx="0" cy="511556"/>
            </a:xfrm>
            <a:prstGeom prst="line">
              <a:avLst/>
            </a:prstGeom>
            <a:ln cap="flat" w="63500">
              <a:solidFill>
                <a:srgbClr val="FFDF6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4" id="34"/>
            <p:cNvSpPr/>
            <p:nvPr/>
          </p:nvSpPr>
          <p:spPr>
            <a:xfrm>
              <a:off x="8743281" y="6204460"/>
              <a:ext cx="0" cy="511556"/>
            </a:xfrm>
            <a:prstGeom prst="line">
              <a:avLst/>
            </a:prstGeom>
            <a:ln cap="flat" w="63500">
              <a:solidFill>
                <a:srgbClr val="FFDF6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>
              <a:off x="15186845" y="6204460"/>
              <a:ext cx="0" cy="511556"/>
            </a:xfrm>
            <a:prstGeom prst="line">
              <a:avLst/>
            </a:prstGeom>
            <a:ln cap="flat" w="63500">
              <a:solidFill>
                <a:srgbClr val="FFDF6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6" id="36"/>
            <p:cNvSpPr txBox="true"/>
            <p:nvPr/>
          </p:nvSpPr>
          <p:spPr>
            <a:xfrm rot="0">
              <a:off x="1454011" y="3652740"/>
              <a:ext cx="19000494" cy="662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83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34332C"/>
                  </a:solidFill>
                  <a:latin typeface="210 디딤고딕"/>
                  <a:ea typeface="210 디딤고딕"/>
                  <a:cs typeface="210 디딤고딕"/>
                  <a:sym typeface="210 디딤고딕"/>
                </a:rPr>
                <a:t>인게임에 들어가지 않아도 게임 속 정보 확보 및 캐릭터 정보 확인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027824" y="3546661"/>
            <a:ext cx="10075516" cy="868643"/>
            <a:chOff x="0" y="0"/>
            <a:chExt cx="2361775" cy="2036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1775" cy="203616"/>
            </a:xfrm>
            <a:custGeom>
              <a:avLst/>
              <a:gdLst/>
              <a:ahLst/>
              <a:cxnLst/>
              <a:rect r="r" b="b" t="t" l="l"/>
              <a:pathLst>
                <a:path h="203616" w="2361775">
                  <a:moveTo>
                    <a:pt x="0" y="0"/>
                  </a:moveTo>
                  <a:lnTo>
                    <a:pt x="2361775" y="0"/>
                  </a:lnTo>
                  <a:lnTo>
                    <a:pt x="2361775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1775" cy="251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027824" y="4802980"/>
            <a:ext cx="10075516" cy="868643"/>
            <a:chOff x="0" y="0"/>
            <a:chExt cx="2361775" cy="2036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61775" cy="203616"/>
            </a:xfrm>
            <a:custGeom>
              <a:avLst/>
              <a:gdLst/>
              <a:ahLst/>
              <a:cxnLst/>
              <a:rect r="r" b="b" t="t" l="l"/>
              <a:pathLst>
                <a:path h="203616" w="2361775">
                  <a:moveTo>
                    <a:pt x="0" y="0"/>
                  </a:moveTo>
                  <a:lnTo>
                    <a:pt x="2361775" y="0"/>
                  </a:lnTo>
                  <a:lnTo>
                    <a:pt x="2361775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61775" cy="251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027824" y="6062149"/>
            <a:ext cx="10075516" cy="868643"/>
            <a:chOff x="0" y="0"/>
            <a:chExt cx="2361775" cy="203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61775" cy="203616"/>
            </a:xfrm>
            <a:custGeom>
              <a:avLst/>
              <a:gdLst/>
              <a:ahLst/>
              <a:cxnLst/>
              <a:rect r="r" b="b" t="t" l="l"/>
              <a:pathLst>
                <a:path h="203616" w="2361775">
                  <a:moveTo>
                    <a:pt x="0" y="0"/>
                  </a:moveTo>
                  <a:lnTo>
                    <a:pt x="2361775" y="0"/>
                  </a:lnTo>
                  <a:lnTo>
                    <a:pt x="2361775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361775" cy="251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6329547" y="3789149"/>
            <a:ext cx="0" cy="383667"/>
          </a:xfrm>
          <a:prstGeom prst="line">
            <a:avLst/>
          </a:prstGeom>
          <a:ln cap="flat" w="47625">
            <a:solidFill>
              <a:srgbClr val="FFDF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6329547" y="5045469"/>
            <a:ext cx="0" cy="383667"/>
          </a:xfrm>
          <a:prstGeom prst="line">
            <a:avLst/>
          </a:prstGeom>
          <a:ln cap="flat" w="47625">
            <a:solidFill>
              <a:srgbClr val="FFDF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6329547" y="6304637"/>
            <a:ext cx="0" cy="383667"/>
          </a:xfrm>
          <a:prstGeom prst="line">
            <a:avLst/>
          </a:prstGeom>
          <a:ln cap="flat" w="47625">
            <a:solidFill>
              <a:srgbClr val="FFDF6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2184660" y="3546661"/>
            <a:ext cx="3595513" cy="3384131"/>
            <a:chOff x="0" y="0"/>
            <a:chExt cx="557039" cy="5242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7039" cy="524291"/>
            </a:xfrm>
            <a:custGeom>
              <a:avLst/>
              <a:gdLst/>
              <a:ahLst/>
              <a:cxnLst/>
              <a:rect r="r" b="b" t="t" l="l"/>
              <a:pathLst>
                <a:path h="524291" w="557039">
                  <a:moveTo>
                    <a:pt x="0" y="0"/>
                  </a:moveTo>
                  <a:lnTo>
                    <a:pt x="557039" y="0"/>
                  </a:lnTo>
                  <a:lnTo>
                    <a:pt x="557039" y="524291"/>
                  </a:lnTo>
                  <a:lnTo>
                    <a:pt x="0" y="524291"/>
                  </a:lnTo>
                  <a:close/>
                </a:path>
              </a:pathLst>
            </a:custGeom>
            <a:blipFill>
              <a:blip r:embed="rId4"/>
              <a:stretch>
                <a:fillRect l="-20634" t="0" r="-20634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4614515" y="1753642"/>
            <a:ext cx="9058971" cy="119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7"/>
              </a:lnSpc>
            </a:pPr>
            <a:r>
              <a:rPr lang="en-US" sz="7300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프로젝트 사용 기술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01135" y="3672943"/>
            <a:ext cx="9383963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Spring Boot, JPA/Hibernate, HTML, JSP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01135" y="4929263"/>
            <a:ext cx="9383963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Vs Code, MySQL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01135" y="6188432"/>
            <a:ext cx="9383963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Lombok, Thymeleaf, 게임 API, 구글 API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03620" y="4022607"/>
            <a:ext cx="3062659" cy="2051062"/>
            <a:chOff x="0" y="0"/>
            <a:chExt cx="717910" cy="4807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7910" cy="480784"/>
            </a:xfrm>
            <a:custGeom>
              <a:avLst/>
              <a:gdLst/>
              <a:ahLst/>
              <a:cxnLst/>
              <a:rect r="r" b="b" t="t" l="l"/>
              <a:pathLst>
                <a:path h="480784" w="717910">
                  <a:moveTo>
                    <a:pt x="0" y="0"/>
                  </a:moveTo>
                  <a:lnTo>
                    <a:pt x="717910" y="0"/>
                  </a:lnTo>
                  <a:lnTo>
                    <a:pt x="717910" y="480784"/>
                  </a:lnTo>
                  <a:lnTo>
                    <a:pt x="0" y="480784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717910" cy="556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1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43953" y="4022607"/>
            <a:ext cx="3062659" cy="2051062"/>
            <a:chOff x="0" y="0"/>
            <a:chExt cx="717910" cy="4807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7910" cy="480784"/>
            </a:xfrm>
            <a:custGeom>
              <a:avLst/>
              <a:gdLst/>
              <a:ahLst/>
              <a:cxnLst/>
              <a:rect r="r" b="b" t="t" l="l"/>
              <a:pathLst>
                <a:path h="480784" w="717910">
                  <a:moveTo>
                    <a:pt x="0" y="0"/>
                  </a:moveTo>
                  <a:lnTo>
                    <a:pt x="717910" y="0"/>
                  </a:lnTo>
                  <a:lnTo>
                    <a:pt x="717910" y="480784"/>
                  </a:lnTo>
                  <a:lnTo>
                    <a:pt x="0" y="480784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717910" cy="556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1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82837" y="4022607"/>
            <a:ext cx="3062659" cy="2051062"/>
            <a:chOff x="0" y="0"/>
            <a:chExt cx="717910" cy="4807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7910" cy="480784"/>
            </a:xfrm>
            <a:custGeom>
              <a:avLst/>
              <a:gdLst/>
              <a:ahLst/>
              <a:cxnLst/>
              <a:rect r="r" b="b" t="t" l="l"/>
              <a:pathLst>
                <a:path h="480784" w="717910">
                  <a:moveTo>
                    <a:pt x="0" y="0"/>
                  </a:moveTo>
                  <a:lnTo>
                    <a:pt x="717910" y="0"/>
                  </a:lnTo>
                  <a:lnTo>
                    <a:pt x="717910" y="480784"/>
                  </a:lnTo>
                  <a:lnTo>
                    <a:pt x="0" y="480784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717910" cy="556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1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621721" y="4022607"/>
            <a:ext cx="3062659" cy="2051062"/>
            <a:chOff x="0" y="0"/>
            <a:chExt cx="717910" cy="4807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7910" cy="480784"/>
            </a:xfrm>
            <a:custGeom>
              <a:avLst/>
              <a:gdLst/>
              <a:ahLst/>
              <a:cxnLst/>
              <a:rect r="r" b="b" t="t" l="l"/>
              <a:pathLst>
                <a:path h="480784" w="717910">
                  <a:moveTo>
                    <a:pt x="0" y="0"/>
                  </a:moveTo>
                  <a:lnTo>
                    <a:pt x="717910" y="0"/>
                  </a:lnTo>
                  <a:lnTo>
                    <a:pt x="717910" y="480784"/>
                  </a:lnTo>
                  <a:lnTo>
                    <a:pt x="0" y="480784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717910" cy="5569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1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03620" y="6035827"/>
            <a:ext cx="3062659" cy="887178"/>
            <a:chOff x="0" y="0"/>
            <a:chExt cx="717910" cy="2079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7910" cy="207961"/>
            </a:xfrm>
            <a:custGeom>
              <a:avLst/>
              <a:gdLst/>
              <a:ahLst/>
              <a:cxnLst/>
              <a:rect r="r" b="b" t="t" l="l"/>
              <a:pathLst>
                <a:path h="207961" w="717910">
                  <a:moveTo>
                    <a:pt x="0" y="0"/>
                  </a:moveTo>
                  <a:lnTo>
                    <a:pt x="717910" y="0"/>
                  </a:lnTo>
                  <a:lnTo>
                    <a:pt x="717910" y="207961"/>
                  </a:lnTo>
                  <a:lnTo>
                    <a:pt x="0" y="207961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717910" cy="255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943953" y="6035827"/>
            <a:ext cx="3062659" cy="887178"/>
            <a:chOff x="0" y="0"/>
            <a:chExt cx="717910" cy="2079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7910" cy="207961"/>
            </a:xfrm>
            <a:custGeom>
              <a:avLst/>
              <a:gdLst/>
              <a:ahLst/>
              <a:cxnLst/>
              <a:rect r="r" b="b" t="t" l="l"/>
              <a:pathLst>
                <a:path h="207961" w="717910">
                  <a:moveTo>
                    <a:pt x="0" y="0"/>
                  </a:moveTo>
                  <a:lnTo>
                    <a:pt x="717910" y="0"/>
                  </a:lnTo>
                  <a:lnTo>
                    <a:pt x="717910" y="207961"/>
                  </a:lnTo>
                  <a:lnTo>
                    <a:pt x="0" y="207961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17910" cy="255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282837" y="6035827"/>
            <a:ext cx="3062659" cy="887178"/>
            <a:chOff x="0" y="0"/>
            <a:chExt cx="717910" cy="2079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7910" cy="207961"/>
            </a:xfrm>
            <a:custGeom>
              <a:avLst/>
              <a:gdLst/>
              <a:ahLst/>
              <a:cxnLst/>
              <a:rect r="r" b="b" t="t" l="l"/>
              <a:pathLst>
                <a:path h="207961" w="717910">
                  <a:moveTo>
                    <a:pt x="0" y="0"/>
                  </a:moveTo>
                  <a:lnTo>
                    <a:pt x="717910" y="0"/>
                  </a:lnTo>
                  <a:lnTo>
                    <a:pt x="717910" y="207961"/>
                  </a:lnTo>
                  <a:lnTo>
                    <a:pt x="0" y="207961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17910" cy="255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621721" y="6035827"/>
            <a:ext cx="3062659" cy="887178"/>
            <a:chOff x="0" y="0"/>
            <a:chExt cx="717910" cy="2079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7910" cy="207961"/>
            </a:xfrm>
            <a:custGeom>
              <a:avLst/>
              <a:gdLst/>
              <a:ahLst/>
              <a:cxnLst/>
              <a:rect r="r" b="b" t="t" l="l"/>
              <a:pathLst>
                <a:path h="207961" w="717910">
                  <a:moveTo>
                    <a:pt x="0" y="0"/>
                  </a:moveTo>
                  <a:lnTo>
                    <a:pt x="717910" y="0"/>
                  </a:lnTo>
                  <a:lnTo>
                    <a:pt x="717910" y="207961"/>
                  </a:lnTo>
                  <a:lnTo>
                    <a:pt x="0" y="207961"/>
                  </a:lnTo>
                  <a:close/>
                </a:path>
              </a:pathLst>
            </a:custGeom>
            <a:solidFill>
              <a:srgbClr val="FFF8DE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17910" cy="2555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660267" y="8195872"/>
            <a:ext cx="14967466" cy="0"/>
          </a:xfrm>
          <a:prstGeom prst="line">
            <a:avLst/>
          </a:prstGeom>
          <a:ln cap="flat" w="19050">
            <a:solidFill>
              <a:srgbClr val="34332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3770623" y="7831546"/>
            <a:ext cx="728653" cy="728653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F60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110956" y="7831546"/>
            <a:ext cx="728653" cy="728653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F60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449840" y="7831546"/>
            <a:ext cx="728653" cy="728653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F60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788724" y="7831546"/>
            <a:ext cx="728653" cy="728653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F60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5686082" y="1753642"/>
            <a:ext cx="6915837" cy="119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7"/>
              </a:lnSpc>
            </a:pPr>
            <a:r>
              <a:rPr lang="en-US" sz="7300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프로젝트 진행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51928" y="4415869"/>
            <a:ext cx="2680342" cy="788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앱 내 기능 구상 </a:t>
            </a:r>
          </a:p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및 전체 개발 방향 수립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320849" y="4415869"/>
            <a:ext cx="2308867" cy="11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전체적인 디자인 및</a:t>
            </a:r>
          </a:p>
          <a:p>
            <a:pPr algn="just">
              <a:lnSpc>
                <a:spcPts val="3213"/>
              </a:lnSpc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개발 시 사용할 툴 </a:t>
            </a:r>
          </a:p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확립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47779" y="4215844"/>
            <a:ext cx="2308867" cy="1588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구체적인 개발 계획, </a:t>
            </a:r>
          </a:p>
          <a:p>
            <a:pPr algn="just">
              <a:lnSpc>
                <a:spcPts val="3213"/>
              </a:lnSpc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백 및 프론트 개발,</a:t>
            </a:r>
          </a:p>
          <a:p>
            <a:pPr algn="just">
              <a:lnSpc>
                <a:spcPts val="3213"/>
              </a:lnSpc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통합 테스트와 </a:t>
            </a:r>
          </a:p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오류 수정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998617" y="4215844"/>
            <a:ext cx="2308867" cy="11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배포 후 유지 보수 및</a:t>
            </a:r>
          </a:p>
          <a:p>
            <a:pPr algn="just">
              <a:lnSpc>
                <a:spcPts val="3213"/>
              </a:lnSpc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개발 과정을 </a:t>
            </a:r>
          </a:p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전체적으로 피드백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603620" y="6171377"/>
            <a:ext cx="3062659" cy="520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앱 초기 구상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943953" y="6171377"/>
            <a:ext cx="3062659" cy="520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개발 환경 설정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282837" y="6171377"/>
            <a:ext cx="3062659" cy="520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개발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621721" y="6171377"/>
            <a:ext cx="3062659" cy="520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배포 및 평가</a:t>
            </a:r>
          </a:p>
        </p:txBody>
      </p:sp>
      <p:sp>
        <p:nvSpPr>
          <p:cNvPr name="AutoShape 53" id="53"/>
          <p:cNvSpPr/>
          <p:nvPr/>
        </p:nvSpPr>
        <p:spPr>
          <a:xfrm>
            <a:off x="4144474" y="6923005"/>
            <a:ext cx="0" cy="908541"/>
          </a:xfrm>
          <a:prstGeom prst="line">
            <a:avLst/>
          </a:prstGeom>
          <a:ln cap="flat" w="19050">
            <a:solidFill>
              <a:srgbClr val="34332C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>
            <a:off x="7465033" y="6923005"/>
            <a:ext cx="0" cy="908541"/>
          </a:xfrm>
          <a:prstGeom prst="line">
            <a:avLst/>
          </a:prstGeom>
          <a:ln cap="flat" w="19050">
            <a:solidFill>
              <a:srgbClr val="34332C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>
            <a:off x="10823692" y="6923005"/>
            <a:ext cx="0" cy="908541"/>
          </a:xfrm>
          <a:prstGeom prst="line">
            <a:avLst/>
          </a:prstGeom>
          <a:ln cap="flat" w="19050">
            <a:solidFill>
              <a:srgbClr val="34332C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>
            <a:off x="14143526" y="6923005"/>
            <a:ext cx="0" cy="908541"/>
          </a:xfrm>
          <a:prstGeom prst="line">
            <a:avLst/>
          </a:prstGeom>
          <a:ln cap="flat" w="19050">
            <a:solidFill>
              <a:srgbClr val="34332C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57" id="57"/>
          <p:cNvSpPr txBox="true"/>
          <p:nvPr/>
        </p:nvSpPr>
        <p:spPr>
          <a:xfrm rot="0">
            <a:off x="3877445" y="7887833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01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207528" y="7887833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02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535184" y="7887833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03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886021" y="7887833"/>
            <a:ext cx="534059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04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44721" y="1805731"/>
            <a:ext cx="13772388" cy="7452569"/>
          </a:xfrm>
          <a:custGeom>
            <a:avLst/>
            <a:gdLst/>
            <a:ahLst/>
            <a:cxnLst/>
            <a:rect r="r" b="b" t="t" l="l"/>
            <a:pathLst>
              <a:path h="7452569" w="13772388">
                <a:moveTo>
                  <a:pt x="0" y="0"/>
                </a:moveTo>
                <a:lnTo>
                  <a:pt x="13772388" y="0"/>
                </a:lnTo>
                <a:lnTo>
                  <a:pt x="13772388" y="7452569"/>
                </a:lnTo>
                <a:lnTo>
                  <a:pt x="0" y="74525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18" r="0" b="-53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86082" y="224139"/>
            <a:ext cx="6915837" cy="119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7"/>
              </a:lnSpc>
            </a:pPr>
            <a:r>
              <a:rPr lang="en-US" sz="7300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프로젝트 일정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86082" y="1753642"/>
            <a:ext cx="6915837" cy="119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7"/>
              </a:lnSpc>
            </a:pPr>
            <a:r>
              <a:rPr lang="en-US" sz="7300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프로젝트 성과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988211" y="3251056"/>
            <a:ext cx="14092536" cy="5568758"/>
            <a:chOff x="0" y="0"/>
            <a:chExt cx="3303395" cy="1305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3394" cy="1305358"/>
            </a:xfrm>
            <a:custGeom>
              <a:avLst/>
              <a:gdLst/>
              <a:ahLst/>
              <a:cxnLst/>
              <a:rect r="r" b="b" t="t" l="l"/>
              <a:pathLst>
                <a:path h="1305358" w="3303394">
                  <a:moveTo>
                    <a:pt x="0" y="0"/>
                  </a:moveTo>
                  <a:lnTo>
                    <a:pt x="3303394" y="0"/>
                  </a:lnTo>
                  <a:lnTo>
                    <a:pt x="3303394" y="1305358"/>
                  </a:lnTo>
                  <a:lnTo>
                    <a:pt x="0" y="1305358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3303395" cy="13815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0" indent="0" lvl="0">
                <a:lnSpc>
                  <a:spcPts val="3213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5031074" y="3850724"/>
            <a:ext cx="0" cy="4458103"/>
          </a:xfrm>
          <a:prstGeom prst="line">
            <a:avLst/>
          </a:prstGeom>
          <a:ln cap="flat" w="19050">
            <a:solidFill>
              <a:srgbClr val="34332C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848994" y="5353131"/>
            <a:ext cx="11369344" cy="278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3"/>
              </a:lnSpc>
            </a:pPr>
          </a:p>
          <a:p>
            <a:pPr algn="just">
              <a:lnSpc>
                <a:spcPts val="3213"/>
              </a:lnSpc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이번 웹 개발 프로젝트 성과로 게임에 접속하지 않고 밖에서 언제든지 웹에 접속하여 </a:t>
            </a:r>
          </a:p>
          <a:p>
            <a:pPr algn="just">
              <a:lnSpc>
                <a:spcPts val="3213"/>
              </a:lnSpc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캐릭터 정보를 자세하게 확인 할 수 있게 되었습니다.</a:t>
            </a:r>
          </a:p>
          <a:p>
            <a:pPr algn="just">
              <a:lnSpc>
                <a:spcPts val="3213"/>
              </a:lnSpc>
            </a:pPr>
          </a:p>
          <a:p>
            <a:pPr algn="just">
              <a:lnSpc>
                <a:spcPts val="3213"/>
              </a:lnSpc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인게임 안에서도 흩어져서 찾기 힘들었던 나의 주요 정보를 한 눈에 정리된 화면으로 볼 수 있습니다.</a:t>
            </a:r>
          </a:p>
          <a:p>
            <a:pPr algn="just">
              <a:lnSpc>
                <a:spcPts val="3213"/>
              </a:lnSpc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그 외에 거래소에서 유물 각인서를 개별로 검색하지 않고 동시에 최저가를 표시하고,</a:t>
            </a:r>
          </a:p>
          <a:p>
            <a:pPr algn="just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검색한 정보를 바탕으로 유저간 상호작용이 가능한 커뮤니티에서 대화 할 수 있습니다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848994" y="3929200"/>
            <a:ext cx="11177227" cy="868643"/>
            <a:chOff x="0" y="0"/>
            <a:chExt cx="2620025" cy="2036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20025" cy="203616"/>
            </a:xfrm>
            <a:custGeom>
              <a:avLst/>
              <a:gdLst/>
              <a:ahLst/>
              <a:cxnLst/>
              <a:rect r="r" b="b" t="t" l="l"/>
              <a:pathLst>
                <a:path h="203616" w="2620025">
                  <a:moveTo>
                    <a:pt x="0" y="0"/>
                  </a:moveTo>
                  <a:lnTo>
                    <a:pt x="2620025" y="0"/>
                  </a:lnTo>
                  <a:lnTo>
                    <a:pt x="2620025" y="203616"/>
                  </a:lnTo>
                  <a:lnTo>
                    <a:pt x="0" y="203616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620025" cy="251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880240" y="4055483"/>
            <a:ext cx="10145981" cy="52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34332C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매출액, 브랜드 인지도, 고객 충성도</a:t>
            </a:r>
          </a:p>
        </p:txBody>
      </p:sp>
      <p:sp>
        <p:nvSpPr>
          <p:cNvPr name="AutoShape 17" id="17"/>
          <p:cNvSpPr/>
          <p:nvPr/>
        </p:nvSpPr>
        <p:spPr>
          <a:xfrm>
            <a:off x="3391721" y="4171688"/>
            <a:ext cx="0" cy="383667"/>
          </a:xfrm>
          <a:prstGeom prst="line">
            <a:avLst/>
          </a:prstGeom>
          <a:ln cap="flat" w="47625">
            <a:solidFill>
              <a:srgbClr val="FFDF6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307" y="1001327"/>
            <a:ext cx="16431386" cy="8284345"/>
            <a:chOff x="0" y="0"/>
            <a:chExt cx="4327608" cy="2181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27608" cy="2181885"/>
            </a:xfrm>
            <a:custGeom>
              <a:avLst/>
              <a:gdLst/>
              <a:ahLst/>
              <a:cxnLst/>
              <a:rect r="r" b="b" t="t" l="l"/>
              <a:pathLst>
                <a:path h="2181885" w="4327608">
                  <a:moveTo>
                    <a:pt x="0" y="0"/>
                  </a:moveTo>
                  <a:lnTo>
                    <a:pt x="4327608" y="0"/>
                  </a:lnTo>
                  <a:lnTo>
                    <a:pt x="4327608" y="2181885"/>
                  </a:lnTo>
                  <a:lnTo>
                    <a:pt x="0" y="2181885"/>
                  </a:lnTo>
                  <a:close/>
                </a:path>
              </a:pathLst>
            </a:custGeom>
            <a:solidFill>
              <a:srgbClr val="FFFDF8"/>
            </a:solidFill>
            <a:ln w="19050" cap="sq">
              <a:solidFill>
                <a:srgbClr val="34332C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27608" cy="2229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6216" y="756509"/>
            <a:ext cx="1511496" cy="1636705"/>
          </a:xfrm>
          <a:custGeom>
            <a:avLst/>
            <a:gdLst/>
            <a:ahLst/>
            <a:cxnLst/>
            <a:rect r="r" b="b" t="t" l="l"/>
            <a:pathLst>
              <a:path h="1636705" w="1511496">
                <a:moveTo>
                  <a:pt x="0" y="0"/>
                </a:moveTo>
                <a:lnTo>
                  <a:pt x="1511496" y="0"/>
                </a:lnTo>
                <a:lnTo>
                  <a:pt x="1511496" y="1636705"/>
                </a:lnTo>
                <a:lnTo>
                  <a:pt x="0" y="163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7521" t="0" r="-11307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534316" y="1515310"/>
            <a:ext cx="4039366" cy="38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213"/>
              </a:lnSpc>
              <a:spcBef>
                <a:spcPct val="0"/>
              </a:spcBef>
            </a:pPr>
            <a:r>
              <a:rPr lang="en-US" sz="2100">
                <a:solidFill>
                  <a:srgbClr val="34332C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Group Project Presentation</a:t>
            </a:r>
          </a:p>
        </p:txBody>
      </p:sp>
      <p:sp>
        <p:nvSpPr>
          <p:cNvPr name="AutoShape 7" id="7"/>
          <p:cNvSpPr/>
          <p:nvPr/>
        </p:nvSpPr>
        <p:spPr>
          <a:xfrm>
            <a:off x="1660267" y="8195872"/>
            <a:ext cx="14967466" cy="0"/>
          </a:xfrm>
          <a:prstGeom prst="line">
            <a:avLst/>
          </a:prstGeom>
          <a:ln cap="flat" w="19050">
            <a:solidFill>
              <a:srgbClr val="3433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7189879" y="8603997"/>
            <a:ext cx="0" cy="312039"/>
          </a:xfrm>
          <a:prstGeom prst="line">
            <a:avLst/>
          </a:prstGeom>
          <a:ln cap="flat" w="19050">
            <a:solidFill>
              <a:srgbClr val="3433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10669583" y="8603997"/>
            <a:ext cx="0" cy="312039"/>
          </a:xfrm>
          <a:prstGeom prst="line">
            <a:avLst/>
          </a:prstGeom>
          <a:ln cap="flat" w="19050">
            <a:solidFill>
              <a:srgbClr val="34332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4360313" y="4253482"/>
            <a:ext cx="9567375" cy="165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28"/>
              </a:lnSpc>
            </a:pPr>
            <a:r>
              <a:rPr lang="en-US" sz="10099">
                <a:solidFill>
                  <a:srgbClr val="34332C"/>
                </a:solidFill>
                <a:latin typeface="마카롱"/>
                <a:ea typeface="마카롱"/>
                <a:cs typeface="마카롱"/>
                <a:sym typeface="마카롱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DAG3CeCT8ZE</dc:identifier>
  <dcterms:modified xsi:type="dcterms:W3CDTF">2011-08-01T06:04:30Z</dcterms:modified>
  <cp:revision>1</cp:revision>
  <dc:title>노란색 흰색 심플한 마케팅 프로젝트 프레젠테이션</dc:title>
</cp:coreProperties>
</file>